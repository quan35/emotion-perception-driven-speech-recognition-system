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9" r:id="rId4"/>
    <p:sldId id="262" r:id="rId5"/>
    <p:sldId id="266" r:id="rId6"/>
    <p:sldId id="267" r:id="rId7"/>
    <p:sldId id="268" r:id="rId8"/>
    <p:sldId id="263" r:id="rId9"/>
    <p:sldId id="270" r:id="rId10"/>
    <p:sldId id="283" r:id="rId11"/>
    <p:sldId id="264" r:id="rId12"/>
    <p:sldId id="274" r:id="rId13"/>
    <p:sldId id="284" r:id="rId14"/>
    <p:sldId id="285" r:id="rId15"/>
    <p:sldId id="265" r:id="rId16"/>
    <p:sldId id="278" r:id="rId17"/>
    <p:sldId id="286" r:id="rId18"/>
    <p:sldId id="287" r:id="rId19"/>
    <p:sldId id="257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FBFBF"/>
    <a:srgbClr val="8CB271"/>
    <a:srgbClr val="ABC4A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>
        <p:scale>
          <a:sx n="66" d="100"/>
          <a:sy n="66" d="100"/>
        </p:scale>
        <p:origin x="222" y="402"/>
      </p:cViewPr>
      <p:guideLst>
        <p:guide orient="horz" pos="2124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阿里巴巴普惠体" panose="00020600040101010101" charset="-122"/>
              </a:rPr>
              <a:t>2026/6/2</a:t>
            </a:fld>
            <a:endParaRPr lang="zh-CN" altLang="en-US">
              <a:cs typeface="阿里巴巴普惠体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阿里巴巴普惠体" panose="00020600040101010101" charset="-122"/>
              </a:rPr>
              <a:t>‹#›</a:t>
            </a:fld>
            <a:endParaRPr lang="zh-CN" altLang="en-US">
              <a:cs typeface="阿里巴巴普惠体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charset="-122"/>
        <a:ea typeface="阿里巴巴普惠体" panose="00020600040101010101" charset="-122"/>
        <a:cs typeface="阿里巴巴普惠体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charset="-122"/>
        <a:ea typeface="阿里巴巴普惠体" panose="00020600040101010101" charset="-122"/>
        <a:cs typeface="阿里巴巴普惠体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charset="-122"/>
        <a:ea typeface="阿里巴巴普惠体" panose="00020600040101010101" charset="-122"/>
        <a:cs typeface="阿里巴巴普惠体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charset="-122"/>
        <a:ea typeface="阿里巴巴普惠体" panose="00020600040101010101" charset="-122"/>
        <a:cs typeface="阿里巴巴普惠体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charset="-122"/>
        <a:ea typeface="阿里巴巴普惠体" panose="00020600040101010101" charset="-122"/>
        <a:cs typeface="阿里巴巴普惠体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hyperlink" Target="http://www.1ppt.com/moban/" TargetMode="External"/><Relationship Id="rId4" Type="http://schemas.openxmlformats.org/officeDocument/2006/relationships/tags" Target="../tags/tag40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1DEEAAC-A2BB-D991-2225-36D62DCF022E}"/>
              </a:ext>
            </a:extLst>
          </p:cNvPr>
          <p:cNvSpPr txBox="1"/>
          <p:nvPr userDrawn="1"/>
        </p:nvSpPr>
        <p:spPr>
          <a:xfrm>
            <a:off x="1755305" y="666527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7355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762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671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717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24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Relationship Id="rId5" Type="http://schemas.openxmlformats.org/officeDocument/2006/relationships/image" Target="../media/image15.pn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88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119346" y="1030303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solidFill>
                  <a:srgbClr val="8CB271"/>
                </a:solidFill>
                <a:cs typeface="+mn-ea"/>
                <a:sym typeface="+mn-lt"/>
              </a:rPr>
              <a:t>情感感知驱动的</a:t>
            </a:r>
            <a:endParaRPr lang="en-US" altLang="zh-CN" sz="7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414592" y="3294278"/>
            <a:ext cx="944917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Emotion-Aware Speaker Speech Recognition</a:t>
            </a:r>
            <a:endParaRPr sz="3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0" name="直接连接符 89"/>
          <p:cNvCxnSpPr/>
          <p:nvPr/>
        </p:nvCxnSpPr>
        <p:spPr>
          <a:xfrm>
            <a:off x="5534343" y="3923030"/>
            <a:ext cx="1019175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圆角矩形 90"/>
          <p:cNvSpPr/>
          <p:nvPr/>
        </p:nvSpPr>
        <p:spPr>
          <a:xfrm>
            <a:off x="4762658" y="4714718"/>
            <a:ext cx="2666682" cy="690874"/>
          </a:xfrm>
          <a:prstGeom prst="roundRect">
            <a:avLst>
              <a:gd name="adj" fmla="val 50000"/>
            </a:avLst>
          </a:prstGeom>
          <a:solidFill>
            <a:srgbClr val="ABC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696060" y="4798545"/>
            <a:ext cx="2799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汇报人：张艺国</a:t>
            </a:r>
          </a:p>
        </p:txBody>
      </p:sp>
      <p:grpSp>
        <p:nvGrpSpPr>
          <p:cNvPr id="13" name="组合 12"/>
          <p:cNvGrpSpPr/>
          <p:nvPr/>
        </p:nvGrpSpPr>
        <p:grpSpPr>
          <a:xfrm rot="5400000">
            <a:off x="10698233" y="1506845"/>
            <a:ext cx="1317744" cy="164718"/>
            <a:chOff x="2566815" y="1366060"/>
            <a:chExt cx="1317744" cy="164718"/>
          </a:xfrm>
        </p:grpSpPr>
        <p:sp>
          <p:nvSpPr>
            <p:cNvPr id="14" name="椭圆 13"/>
            <p:cNvSpPr/>
            <p:nvPr/>
          </p:nvSpPr>
          <p:spPr>
            <a:xfrm>
              <a:off x="2566815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797420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028024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258629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489234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719841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CE9967C-7379-46F5-8D98-5A6B7E062180}"/>
              </a:ext>
            </a:extLst>
          </p:cNvPr>
          <p:cNvSpPr txBox="1"/>
          <p:nvPr/>
        </p:nvSpPr>
        <p:spPr>
          <a:xfrm>
            <a:off x="4827682" y="2215106"/>
            <a:ext cx="6743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说话人语音识别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48753" y="-1016888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890384">
            <a:off x="1764620" y="3532519"/>
            <a:ext cx="5381625" cy="52959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 rot="5400000">
            <a:off x="10698233" y="1506845"/>
            <a:ext cx="1317744" cy="164718"/>
            <a:chOff x="2566815" y="1366060"/>
            <a:chExt cx="1317744" cy="164718"/>
          </a:xfrm>
        </p:grpSpPr>
        <p:sp>
          <p:nvSpPr>
            <p:cNvPr id="14" name="椭圆 13"/>
            <p:cNvSpPr/>
            <p:nvPr/>
          </p:nvSpPr>
          <p:spPr>
            <a:xfrm>
              <a:off x="2566815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797420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028024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258629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489234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719841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椭圆 1"/>
          <p:cNvSpPr/>
          <p:nvPr/>
        </p:nvSpPr>
        <p:spPr>
          <a:xfrm>
            <a:off x="7063725" y="985952"/>
            <a:ext cx="961200" cy="961200"/>
          </a:xfrm>
          <a:prstGeom prst="ellipse">
            <a:avLst/>
          </a:prstGeom>
          <a:solidFill>
            <a:srgbClr val="8CB2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cs typeface="+mn-ea"/>
                <a:sym typeface="+mn-lt"/>
              </a:rPr>
              <a:t>1</a:t>
            </a:r>
            <a:endParaRPr lang="zh-CN" altLang="en-US" sz="4800" dirty="0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94523" y="10661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294523" y="1528451"/>
            <a:ext cx="117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Background</a:t>
            </a:r>
          </a:p>
        </p:txBody>
      </p:sp>
      <p:sp>
        <p:nvSpPr>
          <p:cNvPr id="23" name="椭圆 22"/>
          <p:cNvSpPr/>
          <p:nvPr/>
        </p:nvSpPr>
        <p:spPr>
          <a:xfrm>
            <a:off x="7063725" y="2299373"/>
            <a:ext cx="961200" cy="961200"/>
          </a:xfrm>
          <a:prstGeom prst="ellipse">
            <a:avLst/>
          </a:prstGeom>
          <a:solidFill>
            <a:srgbClr val="ABC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cs typeface="+mn-ea"/>
                <a:sym typeface="+mn-lt"/>
              </a:rPr>
              <a:t>2</a:t>
            </a:r>
            <a:endParaRPr lang="zh-CN" altLang="en-US" sz="4800" dirty="0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94523" y="237952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数据处理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294523" y="2841872"/>
            <a:ext cx="15009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Data Processing</a:t>
            </a:r>
          </a:p>
        </p:txBody>
      </p:sp>
      <p:sp>
        <p:nvSpPr>
          <p:cNvPr id="26" name="椭圆 25"/>
          <p:cNvSpPr/>
          <p:nvPr/>
        </p:nvSpPr>
        <p:spPr>
          <a:xfrm>
            <a:off x="7063725" y="3612794"/>
            <a:ext cx="961200" cy="961200"/>
          </a:xfrm>
          <a:prstGeom prst="ellipse">
            <a:avLst/>
          </a:prstGeom>
          <a:solidFill>
            <a:srgbClr val="8CB2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cs typeface="+mn-ea"/>
                <a:sym typeface="+mn-lt"/>
              </a:rPr>
              <a:t>3</a:t>
            </a:r>
            <a:endParaRPr lang="zh-CN" altLang="en-US" sz="4800" dirty="0"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94523" y="36929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294523" y="4155293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Model Design</a:t>
            </a:r>
          </a:p>
        </p:txBody>
      </p:sp>
      <p:sp>
        <p:nvSpPr>
          <p:cNvPr id="29" name="椭圆 28"/>
          <p:cNvSpPr/>
          <p:nvPr/>
        </p:nvSpPr>
        <p:spPr>
          <a:xfrm>
            <a:off x="7063725" y="4926216"/>
            <a:ext cx="961200" cy="961200"/>
          </a:xfrm>
          <a:prstGeom prst="ellipse">
            <a:avLst/>
          </a:prstGeom>
          <a:solidFill>
            <a:srgbClr val="ABC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cs typeface="+mn-ea"/>
                <a:sym typeface="+mn-lt"/>
              </a:rPr>
              <a:t>4</a:t>
            </a:r>
            <a:endParaRPr lang="zh-CN" altLang="en-US" sz="4800" dirty="0"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294523" y="500636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实验结果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294523" y="5468715"/>
            <a:ext cx="1886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Experimental results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324768" y="2379077"/>
            <a:ext cx="18592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rgbClr val="8CB271"/>
                </a:solidFill>
                <a:cs typeface="+mn-ea"/>
                <a:sym typeface="+mn-lt"/>
              </a:rPr>
              <a:t>目录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3412661" y="3388132"/>
            <a:ext cx="1738071" cy="665947"/>
            <a:chOff x="1049460" y="4841929"/>
            <a:chExt cx="1738071" cy="665947"/>
          </a:xfrm>
          <a:solidFill>
            <a:srgbClr val="8CB271"/>
          </a:solidFill>
        </p:grpSpPr>
        <p:grpSp>
          <p:nvGrpSpPr>
            <p:cNvPr id="43" name="组合 42"/>
            <p:cNvGrpSpPr/>
            <p:nvPr/>
          </p:nvGrpSpPr>
          <p:grpSpPr>
            <a:xfrm>
              <a:off x="1049460" y="4841929"/>
              <a:ext cx="1738071" cy="665947"/>
              <a:chOff x="1049460" y="4841929"/>
              <a:chExt cx="1738071" cy="665947"/>
            </a:xfrm>
            <a:grpFill/>
          </p:grpSpPr>
          <p:sp>
            <p:nvSpPr>
              <p:cNvPr id="45" name="任意多边形: 形状 12"/>
              <p:cNvSpPr/>
              <p:nvPr/>
            </p:nvSpPr>
            <p:spPr>
              <a:xfrm flipH="1" flipV="1">
                <a:off x="1049460" y="5025413"/>
                <a:ext cx="1738071" cy="48246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9637932">
                <a:off x="1219408" y="4841929"/>
                <a:ext cx="171105" cy="268129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1291935" y="5066591"/>
              <a:ext cx="1444626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CONTENT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55" name="直接连接符 54"/>
          <p:cNvCxnSpPr/>
          <p:nvPr/>
        </p:nvCxnSpPr>
        <p:spPr>
          <a:xfrm>
            <a:off x="5397307" y="1528758"/>
            <a:ext cx="762000" cy="0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5397307" y="2878809"/>
            <a:ext cx="762000" cy="0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5397307" y="4191612"/>
            <a:ext cx="762000" cy="0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5397307" y="5541663"/>
            <a:ext cx="762000" cy="0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5162132" y="1528758"/>
            <a:ext cx="0" cy="4012905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3693855" y="3586158"/>
            <a:ext cx="1166223" cy="0"/>
          </a:xfrm>
          <a:prstGeom prst="line">
            <a:avLst/>
          </a:prstGeom>
          <a:ln>
            <a:solidFill>
              <a:schemeClr val="bg1">
                <a:lumMod val="75000"/>
                <a:alpha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630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3" name="文本框 3"/>
          <p:cNvSpPr>
            <a:spLocks noGrp="1"/>
          </p:cNvSpPr>
          <p:nvPr>
            <p:ph type="title"/>
          </p:nvPr>
        </p:nvSpPr>
        <p:spPr>
          <a:xfrm>
            <a:off x="4280876" y="3227040"/>
            <a:ext cx="3764734" cy="895350"/>
          </a:xfrm>
        </p:spPr>
        <p:txBody>
          <a:bodyPr>
            <a:noAutofit/>
          </a:bodyPr>
          <a:lstStyle/>
          <a:p>
            <a:pPr algn="l"/>
            <a:r>
              <a:rPr lang="zh-CN" altLang="en-US" sz="6600" dirty="0">
                <a:solidFill>
                  <a:srgbClr val="8CB271"/>
                </a:solidFill>
                <a:latin typeface="+mn-lt"/>
                <a:ea typeface="+mn-ea"/>
                <a:cs typeface="+mn-ea"/>
                <a:sym typeface="+mn-lt"/>
              </a:rPr>
              <a:t>研究背景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477" y="1687066"/>
            <a:ext cx="13227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01</a:t>
            </a:r>
            <a:r>
              <a:rPr lang="en-US" altLang="zh-CN" sz="48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12" name="MH_Other_2"/>
          <p:cNvSpPr/>
          <p:nvPr>
            <p:custDataLst>
              <p:tags r:id="rId2"/>
            </p:custDataLst>
          </p:nvPr>
        </p:nvSpPr>
        <p:spPr>
          <a:xfrm>
            <a:off x="1201420" y="719477"/>
            <a:ext cx="304800" cy="304800"/>
          </a:xfrm>
          <a:custGeom>
            <a:avLst/>
            <a:gdLst>
              <a:gd name="connsiteX0" fmla="*/ 0 w 495300"/>
              <a:gd name="connsiteY0" fmla="*/ 0 h 495300"/>
              <a:gd name="connsiteX1" fmla="*/ 495300 w 495300"/>
              <a:gd name="connsiteY1" fmla="*/ 0 h 495300"/>
              <a:gd name="connsiteX2" fmla="*/ 495300 w 495300"/>
              <a:gd name="connsiteY2" fmla="*/ 85725 h 495300"/>
              <a:gd name="connsiteX3" fmla="*/ 85725 w 495300"/>
              <a:gd name="connsiteY3" fmla="*/ 85725 h 495300"/>
              <a:gd name="connsiteX4" fmla="*/ 85725 w 495300"/>
              <a:gd name="connsiteY4" fmla="*/ 495300 h 495300"/>
              <a:gd name="connsiteX5" fmla="*/ 0 w 49530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85725"/>
                </a:lnTo>
                <a:lnTo>
                  <a:pt x="85725" y="85725"/>
                </a:lnTo>
                <a:lnTo>
                  <a:pt x="857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8CB2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207832" y="2403936"/>
            <a:ext cx="3466737" cy="108497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语音识别不仅要听懂内容，还要感知情绪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2CABA3B-DB2F-4D94-AEB7-C65E9D260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92" y="871878"/>
            <a:ext cx="6486812" cy="44062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90E5E4C-1017-46DF-AA7E-B730FAF23DA8}"/>
              </a:ext>
            </a:extLst>
          </p:cNvPr>
          <p:cNvSpPr txBox="1"/>
          <p:nvPr/>
        </p:nvSpPr>
        <p:spPr>
          <a:xfrm>
            <a:off x="8116028" y="3925251"/>
            <a:ext cx="3650343" cy="1084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同一句话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+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不同情绪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=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印品黑体"/>
                <a:ea typeface="幼圆"/>
                <a:cs typeface="+mn-ea"/>
                <a:sym typeface="+mn-lt"/>
              </a:rPr>
              <a:t>完全不同的真实意图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17" name="Freeform 290"/>
          <p:cNvSpPr>
            <a:spLocks noChangeAspect="1" noChangeArrowheads="1"/>
          </p:cNvSpPr>
          <p:nvPr/>
        </p:nvSpPr>
        <p:spPr bwMode="auto">
          <a:xfrm>
            <a:off x="1096650" y="3413855"/>
            <a:ext cx="299862" cy="232254"/>
          </a:xfrm>
          <a:custGeom>
            <a:avLst/>
            <a:gdLst>
              <a:gd name="T0" fmla="*/ 995 w 996"/>
              <a:gd name="T1" fmla="*/ 409 h 770"/>
              <a:gd name="T2" fmla="*/ 836 w 996"/>
              <a:gd name="T3" fmla="*/ 409 h 770"/>
              <a:gd name="T4" fmla="*/ 543 w 996"/>
              <a:gd name="T5" fmla="*/ 192 h 770"/>
              <a:gd name="T6" fmla="*/ 384 w 996"/>
              <a:gd name="T7" fmla="*/ 275 h 770"/>
              <a:gd name="T8" fmla="*/ 360 w 996"/>
              <a:gd name="T9" fmla="*/ 158 h 770"/>
              <a:gd name="T10" fmla="*/ 702 w 996"/>
              <a:gd name="T11" fmla="*/ 33 h 770"/>
              <a:gd name="T12" fmla="*/ 836 w 996"/>
              <a:gd name="T13" fmla="*/ 133 h 770"/>
              <a:gd name="T14" fmla="*/ 334 w 996"/>
              <a:gd name="T15" fmla="*/ 626 h 770"/>
              <a:gd name="T16" fmla="*/ 276 w 996"/>
              <a:gd name="T17" fmla="*/ 551 h 770"/>
              <a:gd name="T18" fmla="*/ 209 w 996"/>
              <a:gd name="T19" fmla="*/ 484 h 770"/>
              <a:gd name="T20" fmla="*/ 109 w 996"/>
              <a:gd name="T21" fmla="*/ 434 h 770"/>
              <a:gd name="T22" fmla="*/ 159 w 996"/>
              <a:gd name="T23" fmla="*/ 535 h 770"/>
              <a:gd name="T24" fmla="*/ 226 w 996"/>
              <a:gd name="T25" fmla="*/ 602 h 770"/>
              <a:gd name="T26" fmla="*/ 293 w 996"/>
              <a:gd name="T27" fmla="*/ 668 h 770"/>
              <a:gd name="T28" fmla="*/ 393 w 996"/>
              <a:gd name="T29" fmla="*/ 727 h 770"/>
              <a:gd name="T30" fmla="*/ 334 w 996"/>
              <a:gd name="T31" fmla="*/ 626 h 770"/>
              <a:gd name="T32" fmla="*/ 594 w 996"/>
              <a:gd name="T33" fmla="*/ 267 h 770"/>
              <a:gd name="T34" fmla="*/ 443 w 996"/>
              <a:gd name="T35" fmla="*/ 301 h 770"/>
              <a:gd name="T36" fmla="*/ 284 w 996"/>
              <a:gd name="T37" fmla="*/ 217 h 770"/>
              <a:gd name="T38" fmla="*/ 460 w 996"/>
              <a:gd name="T39" fmla="*/ 50 h 770"/>
              <a:gd name="T40" fmla="*/ 184 w 996"/>
              <a:gd name="T41" fmla="*/ 100 h 770"/>
              <a:gd name="T42" fmla="*/ 0 w 996"/>
              <a:gd name="T43" fmla="*/ 66 h 770"/>
              <a:gd name="T44" fmla="*/ 50 w 996"/>
              <a:gd name="T45" fmla="*/ 443 h 770"/>
              <a:gd name="T46" fmla="*/ 234 w 996"/>
              <a:gd name="T47" fmla="*/ 392 h 770"/>
              <a:gd name="T48" fmla="*/ 293 w 996"/>
              <a:gd name="T49" fmla="*/ 468 h 770"/>
              <a:gd name="T50" fmla="*/ 360 w 996"/>
              <a:gd name="T51" fmla="*/ 535 h 770"/>
              <a:gd name="T52" fmla="*/ 426 w 996"/>
              <a:gd name="T53" fmla="*/ 610 h 770"/>
              <a:gd name="T54" fmla="*/ 477 w 996"/>
              <a:gd name="T55" fmla="*/ 727 h 770"/>
              <a:gd name="T56" fmla="*/ 543 w 996"/>
              <a:gd name="T57" fmla="*/ 660 h 770"/>
              <a:gd name="T58" fmla="*/ 485 w 996"/>
              <a:gd name="T59" fmla="*/ 585 h 770"/>
              <a:gd name="T60" fmla="*/ 569 w 996"/>
              <a:gd name="T61" fmla="*/ 668 h 770"/>
              <a:gd name="T62" fmla="*/ 627 w 996"/>
              <a:gd name="T63" fmla="*/ 602 h 770"/>
              <a:gd name="T64" fmla="*/ 652 w 996"/>
              <a:gd name="T65" fmla="*/ 610 h 770"/>
              <a:gd name="T66" fmla="*/ 719 w 996"/>
              <a:gd name="T67" fmla="*/ 543 h 770"/>
              <a:gd name="T68" fmla="*/ 727 w 996"/>
              <a:gd name="T69" fmla="*/ 526 h 770"/>
              <a:gd name="T70" fmla="*/ 786 w 996"/>
              <a:gd name="T71" fmla="*/ 535 h 770"/>
              <a:gd name="T72" fmla="*/ 786 w 996"/>
              <a:gd name="T73" fmla="*/ 468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96" h="770">
                <a:moveTo>
                  <a:pt x="995" y="100"/>
                </a:moveTo>
                <a:cubicBezTo>
                  <a:pt x="995" y="409"/>
                  <a:pt x="995" y="409"/>
                  <a:pt x="995" y="409"/>
                </a:cubicBezTo>
                <a:cubicBezTo>
                  <a:pt x="995" y="409"/>
                  <a:pt x="928" y="426"/>
                  <a:pt x="920" y="426"/>
                </a:cubicBezTo>
                <a:cubicBezTo>
                  <a:pt x="903" y="426"/>
                  <a:pt x="861" y="443"/>
                  <a:pt x="836" y="409"/>
                </a:cubicBezTo>
                <a:cubicBezTo>
                  <a:pt x="786" y="367"/>
                  <a:pt x="619" y="192"/>
                  <a:pt x="619" y="192"/>
                </a:cubicBezTo>
                <a:cubicBezTo>
                  <a:pt x="619" y="192"/>
                  <a:pt x="594" y="167"/>
                  <a:pt x="543" y="192"/>
                </a:cubicBezTo>
                <a:cubicBezTo>
                  <a:pt x="502" y="217"/>
                  <a:pt x="443" y="250"/>
                  <a:pt x="418" y="259"/>
                </a:cubicBezTo>
                <a:cubicBezTo>
                  <a:pt x="410" y="267"/>
                  <a:pt x="393" y="275"/>
                  <a:pt x="384" y="275"/>
                </a:cubicBezTo>
                <a:cubicBezTo>
                  <a:pt x="351" y="275"/>
                  <a:pt x="326" y="242"/>
                  <a:pt x="326" y="209"/>
                </a:cubicBezTo>
                <a:cubicBezTo>
                  <a:pt x="326" y="183"/>
                  <a:pt x="343" y="167"/>
                  <a:pt x="360" y="158"/>
                </a:cubicBezTo>
                <a:cubicBezTo>
                  <a:pt x="426" y="116"/>
                  <a:pt x="552" y="50"/>
                  <a:pt x="602" y="16"/>
                </a:cubicBezTo>
                <a:cubicBezTo>
                  <a:pt x="635" y="0"/>
                  <a:pt x="652" y="0"/>
                  <a:pt x="702" y="33"/>
                </a:cubicBezTo>
                <a:cubicBezTo>
                  <a:pt x="752" y="83"/>
                  <a:pt x="803" y="125"/>
                  <a:pt x="803" y="125"/>
                </a:cubicBezTo>
                <a:cubicBezTo>
                  <a:pt x="803" y="125"/>
                  <a:pt x="819" y="133"/>
                  <a:pt x="836" y="133"/>
                </a:cubicBezTo>
                <a:cubicBezTo>
                  <a:pt x="878" y="125"/>
                  <a:pt x="995" y="100"/>
                  <a:pt x="995" y="100"/>
                </a:cubicBezTo>
                <a:close/>
                <a:moveTo>
                  <a:pt x="334" y="626"/>
                </a:moveTo>
                <a:cubicBezTo>
                  <a:pt x="343" y="610"/>
                  <a:pt x="343" y="585"/>
                  <a:pt x="326" y="568"/>
                </a:cubicBezTo>
                <a:cubicBezTo>
                  <a:pt x="309" y="551"/>
                  <a:pt x="293" y="551"/>
                  <a:pt x="276" y="551"/>
                </a:cubicBezTo>
                <a:cubicBezTo>
                  <a:pt x="276" y="535"/>
                  <a:pt x="276" y="510"/>
                  <a:pt x="259" y="501"/>
                </a:cubicBezTo>
                <a:cubicBezTo>
                  <a:pt x="251" y="484"/>
                  <a:pt x="226" y="476"/>
                  <a:pt x="209" y="484"/>
                </a:cubicBezTo>
                <a:cubicBezTo>
                  <a:pt x="217" y="468"/>
                  <a:pt x="209" y="443"/>
                  <a:pt x="201" y="426"/>
                </a:cubicBezTo>
                <a:cubicBezTo>
                  <a:pt x="176" y="401"/>
                  <a:pt x="134" y="409"/>
                  <a:pt x="109" y="434"/>
                </a:cubicBezTo>
                <a:cubicBezTo>
                  <a:pt x="92" y="451"/>
                  <a:pt x="75" y="501"/>
                  <a:pt x="92" y="526"/>
                </a:cubicBezTo>
                <a:cubicBezTo>
                  <a:pt x="117" y="551"/>
                  <a:pt x="142" y="535"/>
                  <a:pt x="159" y="535"/>
                </a:cubicBezTo>
                <a:cubicBezTo>
                  <a:pt x="159" y="551"/>
                  <a:pt x="142" y="568"/>
                  <a:pt x="159" y="593"/>
                </a:cubicBezTo>
                <a:cubicBezTo>
                  <a:pt x="176" y="618"/>
                  <a:pt x="209" y="602"/>
                  <a:pt x="226" y="602"/>
                </a:cubicBezTo>
                <a:cubicBezTo>
                  <a:pt x="217" y="618"/>
                  <a:pt x="201" y="643"/>
                  <a:pt x="226" y="668"/>
                </a:cubicBezTo>
                <a:cubicBezTo>
                  <a:pt x="242" y="685"/>
                  <a:pt x="276" y="677"/>
                  <a:pt x="293" y="668"/>
                </a:cubicBezTo>
                <a:cubicBezTo>
                  <a:pt x="284" y="693"/>
                  <a:pt x="268" y="710"/>
                  <a:pt x="293" y="744"/>
                </a:cubicBezTo>
                <a:cubicBezTo>
                  <a:pt x="318" y="769"/>
                  <a:pt x="368" y="752"/>
                  <a:pt x="393" y="727"/>
                </a:cubicBezTo>
                <a:cubicBezTo>
                  <a:pt x="418" y="702"/>
                  <a:pt x="418" y="668"/>
                  <a:pt x="393" y="643"/>
                </a:cubicBezTo>
                <a:cubicBezTo>
                  <a:pt x="376" y="626"/>
                  <a:pt x="360" y="626"/>
                  <a:pt x="334" y="626"/>
                </a:cubicBezTo>
                <a:close/>
                <a:moveTo>
                  <a:pt x="786" y="468"/>
                </a:moveTo>
                <a:cubicBezTo>
                  <a:pt x="610" y="284"/>
                  <a:pt x="694" y="367"/>
                  <a:pt x="594" y="267"/>
                </a:cubicBezTo>
                <a:cubicBezTo>
                  <a:pt x="594" y="267"/>
                  <a:pt x="569" y="234"/>
                  <a:pt x="527" y="259"/>
                </a:cubicBezTo>
                <a:cubicBezTo>
                  <a:pt x="502" y="267"/>
                  <a:pt x="468" y="284"/>
                  <a:pt x="443" y="301"/>
                </a:cubicBezTo>
                <a:cubicBezTo>
                  <a:pt x="418" y="309"/>
                  <a:pt x="393" y="317"/>
                  <a:pt x="384" y="317"/>
                </a:cubicBezTo>
                <a:cubicBezTo>
                  <a:pt x="326" y="317"/>
                  <a:pt x="284" y="267"/>
                  <a:pt x="284" y="217"/>
                </a:cubicBezTo>
                <a:cubicBezTo>
                  <a:pt x="284" y="175"/>
                  <a:pt x="301" y="142"/>
                  <a:pt x="334" y="125"/>
                </a:cubicBezTo>
                <a:cubicBezTo>
                  <a:pt x="368" y="100"/>
                  <a:pt x="460" y="50"/>
                  <a:pt x="460" y="50"/>
                </a:cubicBezTo>
                <a:cubicBezTo>
                  <a:pt x="460" y="50"/>
                  <a:pt x="435" y="8"/>
                  <a:pt x="376" y="8"/>
                </a:cubicBezTo>
                <a:cubicBezTo>
                  <a:pt x="309" y="8"/>
                  <a:pt x="184" y="100"/>
                  <a:pt x="184" y="100"/>
                </a:cubicBezTo>
                <a:cubicBezTo>
                  <a:pt x="184" y="100"/>
                  <a:pt x="150" y="116"/>
                  <a:pt x="100" y="100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426"/>
                  <a:pt x="0" y="426"/>
                  <a:pt x="0" y="426"/>
                </a:cubicBezTo>
                <a:cubicBezTo>
                  <a:pt x="0" y="426"/>
                  <a:pt x="25" y="434"/>
                  <a:pt x="50" y="443"/>
                </a:cubicBezTo>
                <a:cubicBezTo>
                  <a:pt x="59" y="426"/>
                  <a:pt x="67" y="409"/>
                  <a:pt x="83" y="392"/>
                </a:cubicBezTo>
                <a:cubicBezTo>
                  <a:pt x="125" y="351"/>
                  <a:pt x="192" y="351"/>
                  <a:pt x="234" y="392"/>
                </a:cubicBezTo>
                <a:cubicBezTo>
                  <a:pt x="242" y="409"/>
                  <a:pt x="251" y="417"/>
                  <a:pt x="251" y="434"/>
                </a:cubicBezTo>
                <a:cubicBezTo>
                  <a:pt x="268" y="443"/>
                  <a:pt x="284" y="451"/>
                  <a:pt x="293" y="468"/>
                </a:cubicBezTo>
                <a:cubicBezTo>
                  <a:pt x="309" y="476"/>
                  <a:pt x="318" y="493"/>
                  <a:pt x="318" y="510"/>
                </a:cubicBezTo>
                <a:cubicBezTo>
                  <a:pt x="334" y="510"/>
                  <a:pt x="351" y="518"/>
                  <a:pt x="360" y="535"/>
                </a:cubicBezTo>
                <a:cubicBezTo>
                  <a:pt x="376" y="551"/>
                  <a:pt x="384" y="568"/>
                  <a:pt x="384" y="585"/>
                </a:cubicBezTo>
                <a:cubicBezTo>
                  <a:pt x="401" y="585"/>
                  <a:pt x="418" y="593"/>
                  <a:pt x="426" y="610"/>
                </a:cubicBezTo>
                <a:cubicBezTo>
                  <a:pt x="451" y="635"/>
                  <a:pt x="460" y="668"/>
                  <a:pt x="451" y="702"/>
                </a:cubicBezTo>
                <a:cubicBezTo>
                  <a:pt x="460" y="702"/>
                  <a:pt x="468" y="718"/>
                  <a:pt x="477" y="727"/>
                </a:cubicBezTo>
                <a:cubicBezTo>
                  <a:pt x="493" y="744"/>
                  <a:pt x="527" y="744"/>
                  <a:pt x="543" y="727"/>
                </a:cubicBezTo>
                <a:cubicBezTo>
                  <a:pt x="560" y="710"/>
                  <a:pt x="560" y="677"/>
                  <a:pt x="543" y="660"/>
                </a:cubicBezTo>
                <a:lnTo>
                  <a:pt x="535" y="660"/>
                </a:lnTo>
                <a:cubicBezTo>
                  <a:pt x="485" y="602"/>
                  <a:pt x="477" y="593"/>
                  <a:pt x="485" y="585"/>
                </a:cubicBezTo>
                <a:cubicBezTo>
                  <a:pt x="493" y="585"/>
                  <a:pt x="502" y="593"/>
                  <a:pt x="560" y="660"/>
                </a:cubicBezTo>
                <a:cubicBezTo>
                  <a:pt x="569" y="668"/>
                  <a:pt x="569" y="668"/>
                  <a:pt x="569" y="668"/>
                </a:cubicBezTo>
                <a:cubicBezTo>
                  <a:pt x="585" y="685"/>
                  <a:pt x="610" y="685"/>
                  <a:pt x="627" y="668"/>
                </a:cubicBezTo>
                <a:cubicBezTo>
                  <a:pt x="644" y="652"/>
                  <a:pt x="644" y="618"/>
                  <a:pt x="627" y="602"/>
                </a:cubicBezTo>
                <a:cubicBezTo>
                  <a:pt x="569" y="535"/>
                  <a:pt x="560" y="526"/>
                  <a:pt x="560" y="518"/>
                </a:cubicBezTo>
                <a:cubicBezTo>
                  <a:pt x="569" y="518"/>
                  <a:pt x="594" y="551"/>
                  <a:pt x="652" y="610"/>
                </a:cubicBezTo>
                <a:cubicBezTo>
                  <a:pt x="669" y="626"/>
                  <a:pt x="702" y="626"/>
                  <a:pt x="719" y="610"/>
                </a:cubicBezTo>
                <a:cubicBezTo>
                  <a:pt x="727" y="593"/>
                  <a:pt x="736" y="568"/>
                  <a:pt x="719" y="543"/>
                </a:cubicBezTo>
                <a:cubicBezTo>
                  <a:pt x="644" y="468"/>
                  <a:pt x="644" y="468"/>
                  <a:pt x="652" y="459"/>
                </a:cubicBezTo>
                <a:lnTo>
                  <a:pt x="727" y="526"/>
                </a:lnTo>
                <a:cubicBezTo>
                  <a:pt x="727" y="535"/>
                  <a:pt x="727" y="535"/>
                  <a:pt x="727" y="535"/>
                </a:cubicBezTo>
                <a:cubicBezTo>
                  <a:pt x="744" y="551"/>
                  <a:pt x="769" y="551"/>
                  <a:pt x="786" y="535"/>
                </a:cubicBezTo>
                <a:cubicBezTo>
                  <a:pt x="803" y="510"/>
                  <a:pt x="803" y="484"/>
                  <a:pt x="786" y="468"/>
                </a:cubicBezTo>
                <a:close/>
                <a:moveTo>
                  <a:pt x="786" y="468"/>
                </a:moveTo>
                <a:lnTo>
                  <a:pt x="786" y="4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82843" tIns="91422" rIns="182843" bIns="91422" anchor="ctr"/>
          <a:lstStyle/>
          <a:p>
            <a:pPr>
              <a:defRPr/>
            </a:pPr>
            <a:endParaRPr lang="en-US" sz="2400" dirty="0"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756229" y="4021364"/>
            <a:ext cx="8679542" cy="55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en-US" altLang="zh-CN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Derf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和 </a:t>
            </a:r>
            <a:r>
              <a:rPr lang="en-US" altLang="zh-CN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DyT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两种方案，在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SER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任务上效果如何？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827802" y="2034482"/>
            <a:ext cx="8621486" cy="55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多语料标签不统一，如何建立共同的六类情感空间？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798774" y="3027923"/>
            <a:ext cx="8679542" cy="55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预训练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ASR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编码器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+ 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无归一化情感头，效果如何？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D86D50-BA5A-4622-8C23-5046038CD5AB}"/>
              </a:ext>
            </a:extLst>
          </p:cNvPr>
          <p:cNvSpPr txBox="1"/>
          <p:nvPr/>
        </p:nvSpPr>
        <p:spPr>
          <a:xfrm>
            <a:off x="1396512" y="798286"/>
            <a:ext cx="322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研究问题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5E588F-93F4-4E71-BA00-A1E2BE358C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939" y="132289"/>
            <a:ext cx="9269211" cy="659342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630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3" name="文本框 3"/>
          <p:cNvSpPr>
            <a:spLocks noGrp="1"/>
          </p:cNvSpPr>
          <p:nvPr>
            <p:ph type="title"/>
          </p:nvPr>
        </p:nvSpPr>
        <p:spPr>
          <a:xfrm>
            <a:off x="4225903" y="3234690"/>
            <a:ext cx="3740195" cy="895350"/>
          </a:xfrm>
        </p:spPr>
        <p:txBody>
          <a:bodyPr anchor="t">
            <a:noAutofit/>
          </a:bodyPr>
          <a:lstStyle/>
          <a:p>
            <a:pPr algn="l"/>
            <a:r>
              <a:rPr lang="zh-CN" altLang="en-US" sz="6600" dirty="0">
                <a:solidFill>
                  <a:srgbClr val="8CB271"/>
                </a:solidFill>
                <a:latin typeface="+mn-lt"/>
                <a:ea typeface="+mn-ea"/>
                <a:cs typeface="+mn-ea"/>
                <a:sym typeface="+mn-lt"/>
              </a:rPr>
              <a:t>数据处理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477" y="1687066"/>
            <a:ext cx="15183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02</a:t>
            </a:r>
            <a:r>
              <a:rPr lang="en-US" altLang="zh-CN" sz="48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60A32B9C-9861-4400-BA00-D40B51EFD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54852"/>
              </p:ext>
            </p:extLst>
          </p:nvPr>
        </p:nvGraphicFramePr>
        <p:xfrm>
          <a:off x="1785257" y="778242"/>
          <a:ext cx="8621486" cy="53015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71486">
                  <a:extLst>
                    <a:ext uri="{9D8B030D-6E8A-4147-A177-3AD203B41FA5}">
                      <a16:colId xmlns:a16="http://schemas.microsoft.com/office/drawing/2014/main" val="3802298315"/>
                    </a:ext>
                  </a:extLst>
                </a:gridCol>
                <a:gridCol w="1429657">
                  <a:extLst>
                    <a:ext uri="{9D8B030D-6E8A-4147-A177-3AD203B41FA5}">
                      <a16:colId xmlns:a16="http://schemas.microsoft.com/office/drawing/2014/main" val="3554314043"/>
                    </a:ext>
                  </a:extLst>
                </a:gridCol>
                <a:gridCol w="4920343">
                  <a:extLst>
                    <a:ext uri="{9D8B030D-6E8A-4147-A177-3AD203B41FA5}">
                      <a16:colId xmlns:a16="http://schemas.microsoft.com/office/drawing/2014/main" val="2901361389"/>
                    </a:ext>
                  </a:extLst>
                </a:gridCol>
              </a:tblGrid>
              <a:tr h="6977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标签处理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271517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RAVDESS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calm</a:t>
                      </a:r>
                      <a:r>
                        <a:rPr lang="en-US" altLang="zh-CN" sz="3200" b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320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neutral</a:t>
                      </a:r>
                      <a:endParaRPr lang="en-US" altLang="zh-CN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丢弃 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disgust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31141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CASIA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27985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ESD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</a:t>
                      </a:r>
                      <a:r>
                        <a:rPr lang="en-US" altLang="zh-CN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76166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EMODB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丢弃 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boredom/disgust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35283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IEMOCAP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exc→happy</a:t>
                      </a:r>
                      <a:r>
                        <a:rPr lang="zh-CN" altLang="en-US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en-US" altLang="zh-CN" sz="320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fru→angry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595154"/>
                  </a:ext>
                </a:extLst>
              </a:tr>
              <a:tr h="707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TESS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丢弃 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disgust</a:t>
                      </a:r>
                      <a:endParaRPr lang="zh-CN" altLang="en-US" sz="32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8823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8E30AC9-9FA0-4B43-B18B-2E6AD5B47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458" y="362574"/>
            <a:ext cx="7623085" cy="64385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502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630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3" name="文本框 3"/>
          <p:cNvSpPr>
            <a:spLocks noGrp="1"/>
          </p:cNvSpPr>
          <p:nvPr>
            <p:ph type="title"/>
          </p:nvPr>
        </p:nvSpPr>
        <p:spPr>
          <a:xfrm>
            <a:off x="4241120" y="3234690"/>
            <a:ext cx="3709761" cy="895350"/>
          </a:xfrm>
        </p:spPr>
        <p:txBody>
          <a:bodyPr>
            <a:noAutofit/>
          </a:bodyPr>
          <a:lstStyle/>
          <a:p>
            <a:pPr algn="l"/>
            <a:r>
              <a:rPr lang="zh-CN" altLang="en-US" sz="6600" dirty="0">
                <a:solidFill>
                  <a:srgbClr val="8CB271"/>
                </a:solidFill>
                <a:latin typeface="+mn-lt"/>
                <a:ea typeface="+mn-ea"/>
                <a:cs typeface="+mn-ea"/>
                <a:sym typeface="+mn-lt"/>
              </a:rPr>
              <a:t>模型设计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477" y="1687066"/>
            <a:ext cx="15183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03</a:t>
            </a:r>
            <a:r>
              <a:rPr lang="en-US" altLang="zh-CN" sz="48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0355" y="29718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11" name="文本框 3"/>
          <p:cNvSpPr>
            <a:spLocks noGrp="1"/>
          </p:cNvSpPr>
          <p:nvPr>
            <p:ph type="title"/>
          </p:nvPr>
        </p:nvSpPr>
        <p:spPr>
          <a:xfrm>
            <a:off x="1201420" y="109855"/>
            <a:ext cx="7190105" cy="89535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基线模型：基于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BiLSTM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的时序建模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F55E23-873C-4A26-9F32-EC368475E4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88" y="1178288"/>
            <a:ext cx="9772224" cy="45014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0355" y="29718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11" name="文本框 3"/>
          <p:cNvSpPr>
            <a:spLocks noGrp="1"/>
          </p:cNvSpPr>
          <p:nvPr>
            <p:ph type="title"/>
          </p:nvPr>
        </p:nvSpPr>
        <p:spPr>
          <a:xfrm>
            <a:off x="1431653" y="1139370"/>
            <a:ext cx="9328694" cy="889091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主线模型：基于预训练模型的改进型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Transformer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时序建模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6D67CB-4261-40D9-A6A8-A83EA8546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5156"/>
            <a:ext cx="12192000" cy="19276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0697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0355" y="29718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11" name="文本框 3"/>
          <p:cNvSpPr>
            <a:spLocks noGrp="1"/>
          </p:cNvSpPr>
          <p:nvPr>
            <p:ph type="title"/>
          </p:nvPr>
        </p:nvSpPr>
        <p:spPr>
          <a:xfrm>
            <a:off x="1337310" y="500697"/>
            <a:ext cx="6369776" cy="504461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关键模块：基于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DyT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Derf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的任务识别层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CA348A-8428-4937-AB91-79696912C7FC}"/>
                  </a:ext>
                </a:extLst>
              </p:cNvPr>
              <p:cNvSpPr txBox="1"/>
              <p:nvPr/>
            </p:nvSpPr>
            <p:spPr>
              <a:xfrm>
                <a:off x="986973" y="1505585"/>
                <a:ext cx="452845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/>
                        <m:t>𝐷𝑦𝑇</m:t>
                      </m:r>
                      <m:d>
                        <m:dPr>
                          <m:ctrlPr>
                            <a:rPr lang="zh-CN" altLang="zh-CN" sz="2800" i="1"/>
                          </m:ctrlPr>
                        </m:dPr>
                        <m:e>
                          <m:r>
                            <a:rPr lang="en-US" altLang="zh-CN" sz="2800" i="1"/>
                            <m:t>𝑥</m:t>
                          </m:r>
                        </m:e>
                      </m:d>
                      <m:r>
                        <a:rPr lang="en-US" altLang="zh-CN" sz="2800" i="1"/>
                        <m:t>=</m:t>
                      </m:r>
                      <m:r>
                        <m:rPr>
                          <m:sty m:val="p"/>
                        </m:rPr>
                        <a:rPr lang="en-US" altLang="zh-CN" sz="2800"/>
                        <m:t>γ</m:t>
                      </m:r>
                      <m:r>
                        <a:rPr lang="en-US" altLang="zh-CN" sz="2800"/>
                        <m:t>⋅</m:t>
                      </m:r>
                      <m:func>
                        <m:funcPr>
                          <m:ctrlPr>
                            <a:rPr lang="zh-CN" altLang="zh-CN" sz="28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/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800" i="1"/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/>
                                <m:t>α</m:t>
                              </m:r>
                              <m:r>
                                <a:rPr lang="en-US" altLang="zh-CN" sz="2800" i="1"/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2800" i="1"/>
                        <m:t>+ </m:t>
                      </m:r>
                      <m:r>
                        <m:rPr>
                          <m:sty m:val="p"/>
                        </m:rPr>
                        <a:rPr lang="en-US" altLang="zh-CN" sz="2800"/>
                        <m:t>β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CA348A-8428-4937-AB91-79696912C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73" y="1505585"/>
                <a:ext cx="452845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B9C408-D973-465D-AE13-87AA9C00FCFA}"/>
                  </a:ext>
                </a:extLst>
              </p:cNvPr>
              <p:cNvSpPr txBox="1"/>
              <p:nvPr/>
            </p:nvSpPr>
            <p:spPr>
              <a:xfrm>
                <a:off x="6618516" y="1505585"/>
                <a:ext cx="48654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/>
                        <m:t>𝐷𝑒𝑟𝑓</m:t>
                      </m:r>
                      <m:d>
                        <m:dPr>
                          <m:ctrlPr>
                            <a:rPr lang="zh-CN" altLang="zh-CN" sz="2800" i="1"/>
                          </m:ctrlPr>
                        </m:dPr>
                        <m:e>
                          <m:r>
                            <a:rPr lang="en-US" altLang="zh-CN" sz="2800" i="1"/>
                            <m:t>𝑥</m:t>
                          </m:r>
                        </m:e>
                      </m:d>
                      <m:r>
                        <a:rPr lang="en-US" altLang="zh-CN" sz="2800" i="1"/>
                        <m:t>=</m:t>
                      </m:r>
                      <m:r>
                        <m:rPr>
                          <m:sty m:val="p"/>
                        </m:rPr>
                        <a:rPr lang="en-US" altLang="zh-CN" sz="2800"/>
                        <m:t>γ</m:t>
                      </m:r>
                      <m:r>
                        <a:rPr lang="en-US" altLang="zh-CN" sz="2800"/>
                        <m:t>⋅</m:t>
                      </m:r>
                      <m:r>
                        <a:rPr lang="en-US" altLang="zh-CN" sz="2800" i="1"/>
                        <m:t>𝑒𝑟𝑓</m:t>
                      </m:r>
                      <m:d>
                        <m:dPr>
                          <m:ctrlPr>
                            <a:rPr lang="zh-CN" altLang="zh-CN" sz="2800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/>
                            <m:t>α</m:t>
                          </m:r>
                          <m:r>
                            <a:rPr lang="en-US" altLang="zh-CN" sz="2800" i="1"/>
                            <m:t>𝑥</m:t>
                          </m:r>
                          <m:r>
                            <a:rPr lang="en-US" altLang="zh-CN" sz="2800" i="1"/>
                            <m:t>+</m:t>
                          </m:r>
                          <m:r>
                            <a:rPr lang="en-US" altLang="zh-CN" sz="2800" i="1"/>
                            <m:t>𝑠</m:t>
                          </m:r>
                        </m:e>
                      </m:d>
                      <m:r>
                        <a:rPr lang="en-US" altLang="zh-CN" sz="2800" i="1"/>
                        <m:t>+ </m:t>
                      </m:r>
                      <m:r>
                        <m:rPr>
                          <m:sty m:val="p"/>
                        </m:rPr>
                        <a:rPr lang="en-US" altLang="zh-CN" sz="2800"/>
                        <m:t>β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B9C408-D973-465D-AE13-87AA9C00F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6" y="1505585"/>
                <a:ext cx="486543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249146A-E326-4934-8D5A-3B47910A8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99458"/>
              </p:ext>
            </p:extLst>
          </p:nvPr>
        </p:nvGraphicFramePr>
        <p:xfrm>
          <a:off x="1687286" y="2233653"/>
          <a:ext cx="8817429" cy="398571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763061">
                  <a:extLst>
                    <a:ext uri="{9D8B030D-6E8A-4147-A177-3AD203B41FA5}">
                      <a16:colId xmlns:a16="http://schemas.microsoft.com/office/drawing/2014/main" val="740742173"/>
                    </a:ext>
                  </a:extLst>
                </a:gridCol>
                <a:gridCol w="1763061">
                  <a:extLst>
                    <a:ext uri="{9D8B030D-6E8A-4147-A177-3AD203B41FA5}">
                      <a16:colId xmlns:a16="http://schemas.microsoft.com/office/drawing/2014/main" val="1225588124"/>
                    </a:ext>
                  </a:extLst>
                </a:gridCol>
                <a:gridCol w="1763061">
                  <a:extLst>
                    <a:ext uri="{9D8B030D-6E8A-4147-A177-3AD203B41FA5}">
                      <a16:colId xmlns:a16="http://schemas.microsoft.com/office/drawing/2014/main" val="3295004193"/>
                    </a:ext>
                  </a:extLst>
                </a:gridCol>
                <a:gridCol w="1764123">
                  <a:extLst>
                    <a:ext uri="{9D8B030D-6E8A-4147-A177-3AD203B41FA5}">
                      <a16:colId xmlns:a16="http://schemas.microsoft.com/office/drawing/2014/main" val="1257270503"/>
                    </a:ext>
                  </a:extLst>
                </a:gridCol>
                <a:gridCol w="1764123">
                  <a:extLst>
                    <a:ext uri="{9D8B030D-6E8A-4147-A177-3AD203B41FA5}">
                      <a16:colId xmlns:a16="http://schemas.microsoft.com/office/drawing/2014/main" val="3551332439"/>
                    </a:ext>
                  </a:extLst>
                </a:gridCol>
              </a:tblGrid>
              <a:tr h="40160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方法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>
                          <a:effectLst/>
                        </a:rPr>
                        <a:t>核心机制</a:t>
                      </a:r>
                      <a:endParaRPr lang="zh-CN" sz="20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>
                          <a:effectLst/>
                        </a:rPr>
                        <a:t>稳定性保证</a:t>
                      </a:r>
                      <a:endParaRPr lang="zh-CN" sz="20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计算复杂度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>
                          <a:effectLst/>
                        </a:rPr>
                        <a:t>适用场景</a:t>
                      </a:r>
                      <a:endParaRPr lang="zh-CN" sz="20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4770656"/>
                  </a:ext>
                </a:extLst>
              </a:tr>
              <a:tr h="1792056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DyT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动态点式非线性变换替代</a:t>
                      </a:r>
                      <a:r>
                        <a:rPr lang="en-US" sz="200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LayerNorm</a:t>
                      </a:r>
                      <a:r>
                        <a:rPr lang="zh-CN" sz="2000" kern="100" dirty="0">
                          <a:effectLst/>
                        </a:rPr>
                        <a:t>等归一化模块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利用</a:t>
                      </a:r>
                      <a:r>
                        <a:rPr lang="en-US" sz="20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tanh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zh-CN" sz="2000" kern="100" dirty="0">
                          <a:effectLst/>
                        </a:rPr>
                        <a:t>等非线性函数限制特征幅值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较低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轻量模型、效率敏感任务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6382212"/>
                  </a:ext>
                </a:extLst>
              </a:tr>
              <a:tr h="1792056"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ts val="2000"/>
                        </a:lnSpc>
                      </a:pPr>
                      <a:r>
                        <a:rPr lang="en-US" sz="200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DeRF</a:t>
                      </a:r>
                      <a:endParaRPr lang="zh-CN" altLang="en-US" sz="20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>
                          <a:effectLst/>
                        </a:rPr>
                        <a:t>通过重参数化残差结构维持特征尺度稳定</a:t>
                      </a:r>
                      <a:endParaRPr lang="zh-CN" sz="2000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通过残差尺度控制与初始化策略稳定训练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中等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</a:pPr>
                      <a:r>
                        <a:rPr lang="zh-CN" sz="2000" kern="100" dirty="0">
                          <a:effectLst/>
                        </a:rPr>
                        <a:t>深层</a:t>
                      </a:r>
                      <a:r>
                        <a:rPr lang="en-US" sz="2000" kern="100" dirty="0">
                          <a:effectLst/>
                        </a:rPr>
                        <a:t> Transformer</a:t>
                      </a:r>
                      <a:r>
                        <a:rPr lang="zh-CN" sz="2000" kern="100" dirty="0">
                          <a:effectLst/>
                        </a:rPr>
                        <a:t>、大规模预训练模型</a:t>
                      </a:r>
                      <a:endParaRPr lang="zh-CN" sz="20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170577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83616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630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3" name="文本框 3"/>
          <p:cNvSpPr>
            <a:spLocks noGrp="1"/>
          </p:cNvSpPr>
          <p:nvPr>
            <p:ph type="title"/>
          </p:nvPr>
        </p:nvSpPr>
        <p:spPr>
          <a:xfrm>
            <a:off x="4215720" y="3234690"/>
            <a:ext cx="3760561" cy="895350"/>
          </a:xfrm>
        </p:spPr>
        <p:txBody>
          <a:bodyPr>
            <a:noAutofit/>
          </a:bodyPr>
          <a:lstStyle/>
          <a:p>
            <a:pPr algn="l"/>
            <a:r>
              <a:rPr lang="zh-CN" altLang="en-US" sz="6600" dirty="0">
                <a:solidFill>
                  <a:srgbClr val="8CB271"/>
                </a:solidFill>
                <a:latin typeface="+mn-lt"/>
                <a:ea typeface="+mn-ea"/>
                <a:cs typeface="+mn-ea"/>
                <a:sym typeface="+mn-lt"/>
              </a:rPr>
              <a:t>实验结果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477" y="1687066"/>
            <a:ext cx="15183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04</a:t>
            </a:r>
            <a:r>
              <a:rPr lang="en-US" altLang="zh-CN" sz="48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D90871E-501E-45F8-9D8A-9A4B7B0EE1D5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2" y="1253490"/>
            <a:ext cx="5468894" cy="439256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D64E82E-B498-42DF-9B81-549CFAC6A60E}"/>
              </a:ext>
            </a:extLst>
          </p:cNvPr>
          <p:cNvSpPr txBox="1"/>
          <p:nvPr/>
        </p:nvSpPr>
        <p:spPr>
          <a:xfrm>
            <a:off x="1825353" y="5798457"/>
            <a:ext cx="29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Derf</a:t>
            </a:r>
            <a:endParaRPr lang="zh-CN" altLang="en-US" sz="28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495545A-E881-4456-9939-99D6856694D1}"/>
              </a:ext>
            </a:extLst>
          </p:cNvPr>
          <p:cNvSpPr txBox="1"/>
          <p:nvPr/>
        </p:nvSpPr>
        <p:spPr>
          <a:xfrm>
            <a:off x="7888514" y="5798457"/>
            <a:ext cx="2380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Dyt</a:t>
            </a:r>
            <a:endParaRPr lang="zh-CN" altLang="en-US" sz="28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48A076E-943E-4790-928F-977EA0BDC065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214" y="1253490"/>
            <a:ext cx="5355272" cy="43925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D64E82E-B498-42DF-9B81-549CFAC6A60E}"/>
              </a:ext>
            </a:extLst>
          </p:cNvPr>
          <p:cNvSpPr txBox="1"/>
          <p:nvPr/>
        </p:nvSpPr>
        <p:spPr>
          <a:xfrm>
            <a:off x="1825353" y="5798457"/>
            <a:ext cx="2931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Derf</a:t>
            </a:r>
            <a:endParaRPr lang="zh-CN" altLang="en-US" sz="28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495545A-E881-4456-9939-99D6856694D1}"/>
              </a:ext>
            </a:extLst>
          </p:cNvPr>
          <p:cNvSpPr txBox="1"/>
          <p:nvPr/>
        </p:nvSpPr>
        <p:spPr>
          <a:xfrm>
            <a:off x="7888514" y="5798457"/>
            <a:ext cx="2380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Dyt</a:t>
            </a:r>
            <a:endParaRPr lang="zh-CN" altLang="en-US" sz="2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CB74BB-D17B-4878-8971-F1BC9844CEC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t="5888" r="5305" b="2627"/>
          <a:stretch/>
        </p:blipFill>
        <p:spPr bwMode="auto">
          <a:xfrm>
            <a:off x="454115" y="1426300"/>
            <a:ext cx="5503851" cy="41811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211EEF-8038-4BB7-80D3-C62A0036A8B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7" t="5514" r="5829" b="2305"/>
          <a:stretch/>
        </p:blipFill>
        <p:spPr bwMode="auto">
          <a:xfrm>
            <a:off x="6234036" y="1373505"/>
            <a:ext cx="5480985" cy="42668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9D2F68E-893D-4651-9E36-D7B227BA755A}"/>
              </a:ext>
            </a:extLst>
          </p:cNvPr>
          <p:cNvSpPr txBox="1"/>
          <p:nvPr/>
        </p:nvSpPr>
        <p:spPr>
          <a:xfrm>
            <a:off x="1095829" y="579160"/>
            <a:ext cx="10479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angry/neutral </a:t>
            </a:r>
            <a:r>
              <a:rPr lang="zh-CN" altLang="en-US" sz="3200" dirty="0"/>
              <a:t>召回最高，</a:t>
            </a:r>
            <a:r>
              <a:rPr lang="en-US" altLang="zh-CN" sz="3200" dirty="0"/>
              <a:t>surprise </a:t>
            </a:r>
            <a:r>
              <a:rPr lang="zh-CN" altLang="en-US" sz="3200" dirty="0"/>
              <a:t>大量错分为 </a:t>
            </a:r>
            <a:r>
              <a:rPr lang="en-US" altLang="zh-CN" sz="3200" dirty="0"/>
              <a:t>fear </a:t>
            </a:r>
            <a:r>
              <a:rPr lang="zh-CN" altLang="en-US" sz="3200" dirty="0"/>
              <a:t>和 </a:t>
            </a:r>
            <a:r>
              <a:rPr lang="en-US" altLang="zh-CN" sz="3200" dirty="0"/>
              <a:t>happy</a:t>
            </a:r>
            <a:endParaRPr lang="zh-CN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455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9720" y="316230"/>
            <a:ext cx="1167765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92100" y="-240030"/>
            <a:ext cx="1505585" cy="14814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7ABBFA-00B5-4AF4-8042-94AF27F24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87" y="365765"/>
            <a:ext cx="10812427" cy="61264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6955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1" t="25661" r="17537" b="24417"/>
          <a:stretch>
            <a:fillRect/>
          </a:stretch>
        </p:blipFill>
        <p:spPr>
          <a:xfrm>
            <a:off x="0" y="0"/>
            <a:ext cx="12278360" cy="6976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8890" y="-216535"/>
            <a:ext cx="5457825" cy="4981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590" y="3263265"/>
            <a:ext cx="5381625" cy="52959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121025" y="2194560"/>
            <a:ext cx="56692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200">
                <a:solidFill>
                  <a:srgbClr val="8CB271"/>
                </a:solidFill>
                <a:cs typeface="+mn-ea"/>
                <a:sym typeface="+mn-lt"/>
              </a:rPr>
              <a:t>感谢您的</a:t>
            </a:r>
            <a:r>
              <a:rPr lang="zh-CN" altLang="en-US" sz="7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观看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691573" y="1555750"/>
            <a:ext cx="47047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32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Practice </a:t>
            </a:r>
            <a:r>
              <a:rPr lang="en-US" sz="32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</a:t>
            </a:r>
            <a:r>
              <a:rPr sz="32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ourseware</a:t>
            </a:r>
          </a:p>
        </p:txBody>
      </p:sp>
      <p:cxnSp>
        <p:nvCxnSpPr>
          <p:cNvPr id="90" name="直接连接符 89"/>
          <p:cNvCxnSpPr/>
          <p:nvPr/>
        </p:nvCxnSpPr>
        <p:spPr>
          <a:xfrm>
            <a:off x="5534343" y="3923030"/>
            <a:ext cx="1019175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3114675" y="5521"/>
            <a:ext cx="5859145" cy="0"/>
            <a:chOff x="4905" y="5521"/>
            <a:chExt cx="9227" cy="0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4905" y="5521"/>
              <a:ext cx="195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12127" y="5521"/>
              <a:ext cx="200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 rot="5400000">
            <a:off x="10698233" y="1506845"/>
            <a:ext cx="1317744" cy="164718"/>
            <a:chOff x="2566815" y="1366060"/>
            <a:chExt cx="1317744" cy="164718"/>
          </a:xfrm>
        </p:grpSpPr>
        <p:sp>
          <p:nvSpPr>
            <p:cNvPr id="14" name="椭圆 13"/>
            <p:cNvSpPr/>
            <p:nvPr/>
          </p:nvSpPr>
          <p:spPr>
            <a:xfrm>
              <a:off x="2566815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797420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028024" y="1366060"/>
              <a:ext cx="164718" cy="164718"/>
            </a:xfrm>
            <a:prstGeom prst="ellipse">
              <a:avLst/>
            </a:prstGeom>
            <a:solidFill>
              <a:srgbClr val="ABC4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258629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489234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719841" y="1366060"/>
              <a:ext cx="164718" cy="1647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圆角矩形 90">
            <a:extLst>
              <a:ext uri="{FF2B5EF4-FFF2-40B4-BE49-F238E27FC236}">
                <a16:creationId xmlns:a16="http://schemas.microsoft.com/office/drawing/2014/main" id="{090EBA83-1AFB-4576-83FC-AC155DD72137}"/>
              </a:ext>
            </a:extLst>
          </p:cNvPr>
          <p:cNvSpPr/>
          <p:nvPr/>
        </p:nvSpPr>
        <p:spPr>
          <a:xfrm>
            <a:off x="4762658" y="4714718"/>
            <a:ext cx="2666682" cy="690874"/>
          </a:xfrm>
          <a:prstGeom prst="roundRect">
            <a:avLst>
              <a:gd name="adj" fmla="val 50000"/>
            </a:avLst>
          </a:prstGeom>
          <a:solidFill>
            <a:srgbClr val="ABC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D293DD-D95E-4254-AF81-7F02654C91E5}"/>
              </a:ext>
            </a:extLst>
          </p:cNvPr>
          <p:cNvSpPr txBox="1"/>
          <p:nvPr/>
        </p:nvSpPr>
        <p:spPr>
          <a:xfrm>
            <a:off x="4696060" y="4798545"/>
            <a:ext cx="2799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汇报人：张艺国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U3MTgzNWQxMGZiODNhMWIyYjExZDM1MWJjOTBhM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6164042"/>
  <p:tag name="MH_LIBRARY" val="GRAPHIC"/>
  <p:tag name="MH_TYPE" val="Other"/>
  <p:tag name="MH_ORDER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u1nusunb">
      <a:majorFont>
        <a:latin typeface="印品黑体"/>
        <a:ea typeface="幼圆"/>
        <a:cs typeface=""/>
      </a:majorFont>
      <a:minorFont>
        <a:latin typeface="印品黑体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299</Words>
  <Application>Microsoft Office PowerPoint</Application>
  <PresentationFormat>宽屏</PresentationFormat>
  <Paragraphs>81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阿里巴巴普惠体</vt:lpstr>
      <vt:lpstr>楷体</vt:lpstr>
      <vt:lpstr>微软雅黑</vt:lpstr>
      <vt:lpstr>印品黑体</vt:lpstr>
      <vt:lpstr>Arial</vt:lpstr>
      <vt:lpstr>Calibri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研究背景</vt:lpstr>
      <vt:lpstr>PowerPoint 演示文稿</vt:lpstr>
      <vt:lpstr>PowerPoint 演示文稿</vt:lpstr>
      <vt:lpstr>PowerPoint 演示文稿</vt:lpstr>
      <vt:lpstr>数据处理</vt:lpstr>
      <vt:lpstr>PowerPoint 演示文稿</vt:lpstr>
      <vt:lpstr>PowerPoint 演示文稿</vt:lpstr>
      <vt:lpstr>模型设计</vt:lpstr>
      <vt:lpstr>基线模型：基于BiLSTM的时序建模</vt:lpstr>
      <vt:lpstr>主线模型：基于预训练模型的改进型Transformer时序建模</vt:lpstr>
      <vt:lpstr>关键模块：基于DyT与Derf的任务识别层</vt:lpstr>
      <vt:lpstr>实验结果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水彩叶子</dc:title>
  <dc:creator>第一PPT</dc:creator>
  <cp:keywords>www.1ppt.com</cp:keywords>
  <dc:description>www.1ppt.com</dc:description>
  <cp:lastModifiedBy>1804345336@qq.com</cp:lastModifiedBy>
  <cp:revision>199</cp:revision>
  <dcterms:created xsi:type="dcterms:W3CDTF">2019-06-19T02:08:00Z</dcterms:created>
  <dcterms:modified xsi:type="dcterms:W3CDTF">2026-06-02T14:06:53Z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D311673A7422493FB34C9FDE67610D17</vt:lpwstr>
  </property>
</Properties>
</file>